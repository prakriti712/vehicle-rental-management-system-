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7824D-E92A-40A6-B99C-DFB2FA501F35}" v="1" dt="2026-04-29T18:20:01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ritibisht@outlook.com" userId="d8b24acea8f11f99" providerId="LiveId" clId="{AF52A75F-7EB3-417D-A722-C357B3C14616}"/>
    <pc:docChg chg="custSel modSld">
      <pc:chgData name="prakritibisht@outlook.com" userId="d8b24acea8f11f99" providerId="LiveId" clId="{AF52A75F-7EB3-417D-A722-C357B3C14616}" dt="2026-04-29T18:20:51.332" v="15" actId="478"/>
      <pc:docMkLst>
        <pc:docMk/>
      </pc:docMkLst>
      <pc:sldChg chg="addSp delSp modSp mod">
        <pc:chgData name="prakritibisht@outlook.com" userId="d8b24acea8f11f99" providerId="LiveId" clId="{AF52A75F-7EB3-417D-A722-C357B3C14616}" dt="2026-04-29T18:20:51.332" v="15" actId="478"/>
        <pc:sldMkLst>
          <pc:docMk/>
          <pc:sldMk cId="0" sldId="256"/>
        </pc:sldMkLst>
        <pc:spChg chg="mod">
          <ac:chgData name="prakritibisht@outlook.com" userId="d8b24acea8f11f99" providerId="LiveId" clId="{AF52A75F-7EB3-417D-A722-C357B3C14616}" dt="2026-04-29T18:19:55.818" v="2" actId="20577"/>
          <ac:spMkLst>
            <pc:docMk/>
            <pc:sldMk cId="0" sldId="256"/>
            <ac:spMk id="13" creationId="{00000000-0000-0000-0000-000000000000}"/>
          </ac:spMkLst>
        </pc:spChg>
        <pc:spChg chg="del mod">
          <ac:chgData name="prakritibisht@outlook.com" userId="d8b24acea8f11f99" providerId="LiveId" clId="{AF52A75F-7EB3-417D-A722-C357B3C14616}" dt="2026-04-29T08:44:10.024" v="1" actId="478"/>
          <ac:spMkLst>
            <pc:docMk/>
            <pc:sldMk cId="0" sldId="256"/>
            <ac:spMk id="15" creationId="{00000000-0000-0000-0000-000000000000}"/>
          </ac:spMkLst>
        </pc:spChg>
        <pc:spChg chg="add del mod">
          <ac:chgData name="prakritibisht@outlook.com" userId="d8b24acea8f11f99" providerId="LiveId" clId="{AF52A75F-7EB3-417D-A722-C357B3C14616}" dt="2026-04-29T18:20:51.332" v="15" actId="478"/>
          <ac:spMkLst>
            <pc:docMk/>
            <pc:sldMk cId="0" sldId="256"/>
            <ac:spMk id="15" creationId="{52BA542B-8962-2F72-8263-117E2D6036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60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243459">
              <a:alpha val="60000"/>
            </a:srgbClr>
          </a:solidFill>
          <a:ln w="12700">
            <a:solidFill>
              <a:srgbClr val="2434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 Rental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System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Object-Oriented Java Application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MySQL Database Integration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1691640" cy="301752"/>
          </a:xfrm>
          <a:prstGeom prst="rect">
            <a:avLst/>
          </a:prstGeom>
          <a:solidFill>
            <a:srgbClr val="F5A623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41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Prakriti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3931920"/>
            <a:ext cx="1691640" cy="301752"/>
          </a:xfrm>
          <a:prstGeom prst="rect">
            <a:avLst/>
          </a:prstGeom>
          <a:solidFill>
            <a:srgbClr val="F5A623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941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931920"/>
            <a:ext cx="1691640" cy="301752"/>
          </a:xfrm>
          <a:prstGeom prst="rect">
            <a:avLst/>
          </a:prstGeom>
          <a:solidFill>
            <a:srgbClr val="F5A623">
              <a:alpha val="8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663440" y="3941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941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Rajveer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370832"/>
            <a:ext cx="8732520" cy="749808"/>
          </a:xfrm>
          <a:prstGeom prst="rect">
            <a:avLst/>
          </a:prstGeom>
          <a:solidFill>
            <a:srgbClr val="24345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4398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Subject Project  |  Java + Swing + JDBC + MySQL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Rental System is a desktop application built in Java using Object-Oriented Programming principles. It allows users to register, browse vehicles, book rentals, and manage them — while admins can manage the fleet and monitor all rentals.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20116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011680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21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Desktop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GUI with custom-styled components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20116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011680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121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with JDBC connectivity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429000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387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login: Admin &amp; Customer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429000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5387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Rental Workflow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3977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track and return vehicles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OOP CONCEPTS APPLIED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38912"/>
          </a:xfrm>
          <a:prstGeom prst="rect">
            <a:avLst/>
          </a:prstGeom>
          <a:solidFill>
            <a:srgbClr val="2E4BA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607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classes (User, Vehicle, Rental) use private fields with public getters/setters, protecting internal state.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80360"/>
            <a:ext cx="4023360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935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3410712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(AuthService, RentalService, VehicleService) hides DB logic behind clean method interfaces.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4023360" cy="4389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607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536192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 components (RoundedButton, StyledTextField) extend standard Swing classes to add reusable styling.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4023360" cy="4389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935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panels (LoginPanel, CustomerDashboard, AdminDashboard) used interchangeably via Java's Swing CardLayout.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Architecture (MVC Pattern)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solidFill>
            <a:srgbClr val="2E4BA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90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Layer (View)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Panels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4813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LoginPanel · RegisterPanel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CustomerDashboard · AdminDashboard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BrowseVehiclesPanel · ManageVehiclesPanel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423160"/>
            <a:ext cx="73152" cy="182880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606040"/>
            <a:ext cx="8412480" cy="1005840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679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Layer (Controller)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081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6700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· RentalService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PasswordUtil · SessionManager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3611880"/>
            <a:ext cx="73152" cy="182880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8679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 (Model + DAO)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270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38587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Vehicle · Rental (Models)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UserDAO · VehicleDAO · RentalDAO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DatabaseConnection (JDBC)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438912"/>
          </a:xfrm>
          <a:prstGeom prst="rect">
            <a:avLst/>
          </a:prstGeom>
          <a:solidFill>
            <a:srgbClr val="2E4BA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353312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(UNIQUE)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682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(ADMIN/CUSTOMER)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contact_info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27832" y="914400"/>
            <a:ext cx="2834640" cy="438912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9272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27832" y="1353312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64992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64992" y="1892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23682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64992" y="28437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rent_per_day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4992" y="3319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(AVAILABLE/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RENTED/MAINTENANCE)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27064" y="914400"/>
            <a:ext cx="2834640" cy="438912"/>
          </a:xfrm>
          <a:prstGeom prst="rect">
            <a:avLst/>
          </a:prstGeom>
          <a:solidFill>
            <a:srgbClr val="D4881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18504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Rentals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27064" y="1353312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64224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64224" y="1892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(FK→Users)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4224" y="23682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vehicle_id (FK→Vehicles)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64224" y="28437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64224" y="3319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64224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total_cost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64224" y="4270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(ACTIVE/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COMPLETED/CANCELLED)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Rentals.user_id → Users.id  (FK)     •     Rentals.vehicle_id → Vehicles.id  (FK)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834640" cy="4754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24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Auth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27048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27832" y="9601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960120"/>
            <a:ext cx="2834640" cy="4754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1024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Vehicle Mgmt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64992" y="1527048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 vehicles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status: Available/Rented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Car, Bike, SUV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7064" y="9601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27064" y="960120"/>
            <a:ext cx="2834640" cy="4754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024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Rental Booking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4224" y="1527048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date range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cost calculation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1-day billing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2834640" cy="4754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Return 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538728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rental completed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status auto-reset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 panel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27832" y="297180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971800"/>
            <a:ext cx="2834640" cy="4754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Admin Panel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64992" y="3538728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rentals system-wide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entire fleet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overview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7064" y="297180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27064" y="2971800"/>
            <a:ext cx="2834640" cy="4754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6318504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Custom UI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64224" y="3538728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buttons &amp; fields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 theme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panel navigation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 DIAGRAM (SIMPLIFIED)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011680" cy="384048"/>
          </a:xfrm>
          <a:prstGeom prst="rect">
            <a:avLst/>
          </a:prstGeom>
          <a:solidFill>
            <a:srgbClr val="2E4BA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344168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3990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int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" y="16550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username: String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191109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passwordHash: String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216712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role: String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6032" y="242316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getters/setters()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960120"/>
            <a:ext cx="2011680" cy="384048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1344168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9312" y="13990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int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39312" y="16550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name: String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39312" y="191109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type: String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39312" y="216712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rentPerDay: BigDecimal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39312" y="242316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status: String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960120"/>
            <a:ext cx="2011680" cy="384048"/>
          </a:xfrm>
          <a:prstGeom prst="rect">
            <a:avLst/>
          </a:prstGeom>
          <a:solidFill>
            <a:srgbClr val="D4881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Rental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1344168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22592" y="13990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int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22592" y="16550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userId: int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22592" y="191109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vehicleId: int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22592" y="216712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startDate: LocalDate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22592" y="242316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totalCost: BigDecimal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3017520"/>
            <a:ext cx="2011680" cy="384048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8600" y="3063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AuthService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" y="3401568"/>
            <a:ext cx="20116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6032" y="3456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6032" y="37124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register()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66160" y="3017520"/>
            <a:ext cx="2011680" cy="384048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11880" y="3063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RentalService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566160" y="3401568"/>
            <a:ext cx="201168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39312" y="3456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bookVehicle()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39312" y="37124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returnVehicle()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39312" y="396849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calculateCost()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49440" y="3017520"/>
            <a:ext cx="2011680" cy="384048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95160" y="3063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SessionManager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49440" y="3401568"/>
            <a:ext cx="201168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22592" y="3456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getCurrentUser()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22592" y="37124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setCurrentUser()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022592" y="396849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logout()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188720" y="3017520"/>
            <a:ext cx="0" cy="0"/>
          </a:xfrm>
          <a:prstGeom prst="line">
            <a:avLst/>
          </a:prstGeom>
          <a:noFill/>
          <a:ln w="15240">
            <a:solidFill>
              <a:srgbClr val="8A93A6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572000" y="3017520"/>
            <a:ext cx="0" cy="0"/>
          </a:xfrm>
          <a:prstGeom prst="line">
            <a:avLst/>
          </a:prstGeom>
          <a:noFill/>
          <a:ln w="15240">
            <a:solidFill>
              <a:srgbClr val="8A93A6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7955280" y="3017520"/>
            <a:ext cx="0" cy="0"/>
          </a:xfrm>
          <a:prstGeom prst="line">
            <a:avLst/>
          </a:prstGeom>
          <a:noFill/>
          <a:ln w="15240">
            <a:solidFill>
              <a:srgbClr val="8A93A6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B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347472" cy="347472"/>
          </a:xfrm>
          <a:prstGeom prst="ellipse">
            <a:avLst/>
          </a:prstGeom>
          <a:solidFill>
            <a:srgbClr val="2E4B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35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" y="1673352"/>
            <a:ext cx="54864" cy="24688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920240"/>
            <a:ext cx="347472" cy="347472"/>
          </a:xfrm>
          <a:prstGeom prst="ellipse">
            <a:avLst/>
          </a:prstGeom>
          <a:solidFill>
            <a:srgbClr val="2E4BA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9293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293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Available Vehicles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" y="2267712"/>
            <a:ext cx="54864" cy="24688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514600"/>
            <a:ext cx="347472" cy="347472"/>
          </a:xfrm>
          <a:prstGeom prst="ellipse">
            <a:avLst/>
          </a:prstGeom>
          <a:solidFill>
            <a:srgbClr val="2E4BA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5237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5237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Vehicle &amp; Dates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" y="2862072"/>
            <a:ext cx="54864" cy="24688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3108960"/>
            <a:ext cx="347472" cy="347472"/>
          </a:xfrm>
          <a:prstGeom prst="ellipse">
            <a:avLst/>
          </a:prstGeom>
          <a:solidFill>
            <a:srgbClr val="2E4BA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1181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1181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" y="3456432"/>
            <a:ext cx="54864" cy="24688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703320"/>
            <a:ext cx="347472" cy="347472"/>
          </a:xfrm>
          <a:prstGeom prst="ellipse">
            <a:avLst/>
          </a:prstGeom>
          <a:solidFill>
            <a:srgbClr val="2E4BA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124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7124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My Rentals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0624" y="4050792"/>
            <a:ext cx="54864" cy="24688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4297680"/>
            <a:ext cx="347472" cy="347472"/>
          </a:xfrm>
          <a:prstGeom prst="ellipse">
            <a:avLst/>
          </a:prstGeom>
          <a:solidFill>
            <a:srgbClr val="2E4BA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3068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3068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Vehicle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896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8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Flow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1325880"/>
            <a:ext cx="347472" cy="347472"/>
          </a:xfrm>
          <a:prstGeom prst="ellipse">
            <a:avLst/>
          </a:prstGeom>
          <a:solidFill>
            <a:srgbClr val="D4881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335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13350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Admin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92624" y="1673352"/>
            <a:ext cx="54864" cy="24688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1984248"/>
            <a:ext cx="347472" cy="347472"/>
          </a:xfrm>
          <a:prstGeom prst="ellipse">
            <a:avLst/>
          </a:prstGeom>
          <a:solidFill>
            <a:srgbClr val="D4881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9933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19933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Vehicle Fleet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92624" y="2331720"/>
            <a:ext cx="54864" cy="24688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2642616"/>
            <a:ext cx="347472" cy="347472"/>
          </a:xfrm>
          <a:prstGeom prst="ellipse">
            <a:avLst/>
          </a:prstGeom>
          <a:solidFill>
            <a:srgbClr val="D4881A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6517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2651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Vehicles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92624" y="2990088"/>
            <a:ext cx="54864" cy="24688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320" y="3300984"/>
            <a:ext cx="347472" cy="347472"/>
          </a:xfrm>
          <a:prstGeom prst="ellipse">
            <a:avLst/>
          </a:prstGeom>
          <a:solidFill>
            <a:srgbClr val="D4881A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31012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33101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Rentals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992624" y="3648456"/>
            <a:ext cx="54864" cy="24688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45" name="Shape 43"/>
          <p:cNvSpPr/>
          <p:nvPr/>
        </p:nvSpPr>
        <p:spPr>
          <a:xfrm>
            <a:off x="4846320" y="3959352"/>
            <a:ext cx="347472" cy="347472"/>
          </a:xfrm>
          <a:prstGeom prst="ellipse">
            <a:avLst/>
          </a:prstGeom>
          <a:solidFill>
            <a:srgbClr val="D4881A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96849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3968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Vehicles Available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480560" y="914400"/>
            <a:ext cx="54864" cy="4023360"/>
          </a:xfrm>
          <a:prstGeom prst="rect">
            <a:avLst/>
          </a:prstGeom>
          <a:solidFill>
            <a:srgbClr val="EEF2F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TOOLS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777240"/>
          </a:xfrm>
          <a:prstGeom prst="rect">
            <a:avLst/>
          </a:prstGeom>
          <a:solidFill>
            <a:srgbClr val="2E4B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69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(JDK 17+)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65960"/>
            <a:ext cx="64008" cy="777240"/>
          </a:xfrm>
          <a:prstGeom prst="rect">
            <a:avLst/>
          </a:prstGeom>
          <a:solidFill>
            <a:srgbClr val="2E4BA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64008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73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86200"/>
            <a:ext cx="64008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Driver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33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Connector/J (JDBC)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05840"/>
            <a:ext cx="64008" cy="777240"/>
          </a:xfrm>
          <a:prstGeom prst="rect">
            <a:avLst/>
          </a:prstGeom>
          <a:solidFill>
            <a:srgbClr val="D4881A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069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19659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965960"/>
            <a:ext cx="64008" cy="777240"/>
          </a:xfrm>
          <a:prstGeom prst="rect">
            <a:avLst/>
          </a:prstGeom>
          <a:solidFill>
            <a:srgbClr val="D4881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Tools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313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IntelliJ IDEA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26080"/>
            <a:ext cx="64008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273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9160" y="388620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886200"/>
            <a:ext cx="64008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4233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DAO Pattern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243459">
              <a:alpha val="70000"/>
            </a:srgbClr>
          </a:solidFill>
          <a:ln w="12700">
            <a:solidFill>
              <a:srgbClr val="2434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Learned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007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all 4 core OOP principles: Encapsulation, Abstraction, Inheritance, Polymorphism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128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3-tier MVC architecture separating UI, Business Logic, and Data layers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249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Java Swing with MySQL using JDBC for a fully functional desktop 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369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secure authentication with SHA-256 hashing and session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role-based access for Admin and Customer users with distinct dashboards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4114800"/>
            <a:ext cx="4572000" cy="777240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0" y="41696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728</Words>
  <Application>Microsoft Office PowerPoint</Application>
  <PresentationFormat>On-screen Show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Rental System</dc:title>
  <dc:subject>PptxGenJS Presentation</dc:subject>
  <dc:creator>PptxGenJS</dc:creator>
  <cp:lastModifiedBy>prakritibisht@outlook.com</cp:lastModifiedBy>
  <cp:revision>2</cp:revision>
  <dcterms:created xsi:type="dcterms:W3CDTF">2026-04-28T19:01:15Z</dcterms:created>
  <dcterms:modified xsi:type="dcterms:W3CDTF">2026-04-29T18:20:51Z</dcterms:modified>
</cp:coreProperties>
</file>